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2E7D6B"/>
                </a:solidFill>
                <a:latin typeface="Consolas"/>
              </a:rPr>
              <a:t>ESGI 4A IABD -- REINFORCEMENT LEARNING P1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400" b="1" i="0">
                <a:solidFill>
                  <a:srgbClr val="F5F4F0"/>
                </a:solidFill>
                <a:latin typeface="Georgia"/>
              </a:rPr>
              <a:t>Reinforcement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1605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 i="0">
                <a:solidFill>
                  <a:srgbClr val="AFBDB9"/>
                </a:solidFill>
                <a:latin typeface="Calibri"/>
              </a:rPr>
              <a:t>Dynamic Programming, Monte Carlo, Temporal Difference, Planning -- implémentation et étude comparative, validées sur des environnements à vérité terrain connue puis sur des environnements boîte noire.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5760720"/>
            <a:ext cx="1463040" cy="2540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94360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AFBDB9"/>
                </a:solidFill>
                <a:latin typeface="Consolas"/>
              </a:rPr>
              <a:t>8 environnements  --  4 familles d'algorithmes  --  6 méthodes model-free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F5C4E"/>
                </a:solidFill>
                <a:latin typeface="Consolas"/>
              </a:rPr>
              <a:t>VUE D'ENSEMBLE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32426"/>
                </a:solidFill>
                <a:latin typeface="Georgia"/>
              </a:rPr>
              <a:t>Ce qui a été implémenté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11535" cy="45262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Dynamic Programming : Policy Iteration, Value Iteration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Monte Carlo : Exploring Starts, on-policy first-visit, off-policy (importance sampling)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Temporal Difference : Sarsa (on-policy), Q-Learning (off-policy)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Planning : Dyna-Q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Le tout testé sur 8 environnements, du plus simple à des environnements boîte noire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9525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6B6F72"/>
                </a:solidFill>
                <a:latin typeface="Consolas"/>
              </a:rPr>
              <a:t>VUE D'ENSEMBLE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6F72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F5C4E"/>
                </a:solidFill>
                <a:latin typeface="Consola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32426"/>
                </a:solidFill>
                <a:latin typeface="Georgia"/>
              </a:rPr>
              <a:t>Les deux contrats d'environnement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11535" cy="45262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MDPEnv : modèle complet connu (probabilités de transition, récompenses)</a:t>
            </a:r>
          </a:p>
          <a:p>
            <a:pPr marL="411480" indent="0">
              <a:spcAft>
                <a:spcPts val="800"/>
              </a:spcAft>
            </a:pPr>
            <a:r>
              <a:t/>
            </a:r>
            <a:r>
              <a:rPr sz="1000" b="0" i="0">
                <a:solidFill>
                  <a:srgbClr val="6B6F72"/>
                </a:solidFill>
                <a:latin typeface="Calibri"/>
              </a:rPr>
              <a:t>–  </a:t>
            </a:r>
            <a:r>
              <a:rPr sz="1550" b="0" i="1">
                <a:solidFill>
                  <a:srgbClr val="6B6F72"/>
                </a:solidFill>
                <a:latin typeface="Calibri"/>
              </a:rPr>
              <a:t>requis par Policy Iteration et Value Iteration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ModelFreeEnv : reset / step / score seulement -- on apprend en jouant</a:t>
            </a:r>
          </a:p>
          <a:p>
            <a:pPr marL="411480" indent="0">
              <a:spcAft>
                <a:spcPts val="800"/>
              </a:spcAft>
            </a:pPr>
            <a:r>
              <a:t/>
            </a:r>
            <a:r>
              <a:rPr sz="1000" b="0" i="0">
                <a:solidFill>
                  <a:srgbClr val="6B6F72"/>
                </a:solidFill>
                <a:latin typeface="Calibri"/>
              </a:rPr>
              <a:t>–  </a:t>
            </a:r>
            <a:r>
              <a:rPr sz="1550" b="0" i="1">
                <a:solidFill>
                  <a:srgbClr val="6B6F72"/>
                </a:solidFill>
                <a:latin typeface="Calibri"/>
              </a:rPr>
              <a:t>requis par Monte Carlo, Temporal Difference, Planning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Un algorithme ne dépend jamais d'un environnement concret, seulement du contrat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9525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6B6F72"/>
                </a:solidFill>
                <a:latin typeface="Consolas"/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6F72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F5C4E"/>
                </a:solidFill>
                <a:latin typeface="Consolas"/>
              </a:rPr>
              <a:t>FAMILLE 1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32426"/>
                </a:solidFill>
                <a:latin typeface="Georgia"/>
              </a:rPr>
              <a:t>Dynamic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11535" cy="45262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Policy Iteration : alterne évaluation complète de la politique et amélioration gloutonne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Value Iteration : fusionne les deux étapes en un seul balayage par itération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Les deux convergent vers exactement le même résultat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9525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6B6F72"/>
                </a:solidFill>
                <a:latin typeface="Consolas"/>
              </a:rPr>
              <a:t>FAMILLE 1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6F72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F5C4E"/>
                </a:solidFill>
                <a:latin typeface="Consolas"/>
              </a:rPr>
              <a:t>FAMILLE 2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32426"/>
                </a:solidFill>
                <a:latin typeface="Georgia"/>
              </a:rPr>
              <a:t>Monte Carlo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11535" cy="45262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Monte Carlo ES : chaque épisode démarre sur un état-action tiré au hasard (exploring starts)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On-policy first-visit : politique epsilon-greedy dérivée de Q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Off-policy : comportement epsilon-greedy, cible greedy, pondération par poids d'importance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9525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6B6F72"/>
                </a:solidFill>
                <a:latin typeface="Consolas"/>
              </a:rPr>
              <a:t>FAMILLE 2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6F72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F5C4E"/>
                </a:solidFill>
                <a:latin typeface="Consolas"/>
              </a:rPr>
              <a:t>FAMILLE 3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32426"/>
                </a:solidFill>
                <a:latin typeface="Georgia"/>
              </a:rPr>
              <a:t>Temporal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11535" cy="45262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Sarsa (on-policy) : met à jour Q avec l'action réellement choisie ensuite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Q-Learning (off-policy) : met à jour Q avec la meilleure action possible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Apprentissage à chaque pas, sans attendre la fin de l'épisode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9525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6B6F72"/>
                </a:solidFill>
                <a:latin typeface="Consolas"/>
              </a:rPr>
              <a:t>FAMILLE 3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6F72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F5C4E"/>
                </a:solidFill>
                <a:latin typeface="Consolas"/>
              </a:rPr>
              <a:t>FAMILLE 4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32426"/>
                </a:solidFill>
                <a:latin typeface="Georgia"/>
              </a:rPr>
              <a:t>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11535" cy="45262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Dyna-Q : maintient un modèle appris des transitions, en plus de Q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Après chaque pas réel, plusieurs mises à jour supplémentaires rejouées depuis ce modèle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Accélère l'apprentissage sans interaction supplémentaire avec l'environnement réel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9525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6B6F72"/>
                </a:solidFill>
                <a:latin typeface="Consolas"/>
              </a:rPr>
              <a:t>FAMILLE 4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6F72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F5C4E"/>
                </a:solidFill>
                <a:latin typeface="Consolas"/>
              </a:rPr>
              <a:t>BANCS DE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32426"/>
                </a:solidFill>
                <a:latin typeface="Georgia"/>
              </a:rPr>
              <a:t>Les environnements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74519"/>
          <a:ext cx="1088136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67512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5F4F0"/>
                          </a:solidFill>
                          <a:latin typeface="Calibri"/>
                        </a:rPr>
                        <a:t>Environnement</a:t>
                      </a:r>
                    </a:p>
                  </a:txBody>
                  <a:tcPr anchor="ctr" marL="109728" marT="36576" marB="36576">
                    <a:solidFill>
                      <a:srgbClr val="2E7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5F4F0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109728" marT="36576" marB="36576">
                    <a:solidFill>
                      <a:srgbClr val="2E7D6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2426"/>
                          </a:solidFill>
                          <a:latin typeface="Calibri"/>
                        </a:rPr>
                        <a:t>Line World</a:t>
                      </a:r>
                    </a:p>
                  </a:txBody>
                  <a:tcPr anchor="ctr" marL="109728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2426"/>
                          </a:solidFill>
                          <a:latin typeface="Calibri"/>
                        </a:rPr>
                        <a:t>5 cases, résultat optimal calculable à la main</a:t>
                      </a:r>
                    </a:p>
                  </a:txBody>
                  <a:tcPr anchor="ctr" marL="109728">
                    <a:solidFill>
                      <a:srgbClr val="F5F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2426"/>
                          </a:solidFill>
                          <a:latin typeface="Calibri"/>
                        </a:rPr>
                        <a:t>Grid World</a:t>
                      </a:r>
                    </a:p>
                  </a:txBody>
                  <a:tcPr anchor="ctr" marL="109728">
                    <a:solidFill>
                      <a:srgbClr val="EAE8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2426"/>
                          </a:solidFill>
                          <a:latin typeface="Calibri"/>
                        </a:rPr>
                        <a:t>Grille 4x4, un objectif, un piège</a:t>
                      </a:r>
                    </a:p>
                  </a:txBody>
                  <a:tcPr anchor="ctr" marL="109728">
                    <a:solidFill>
                      <a:srgbClr val="EAE8E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2426"/>
                          </a:solidFill>
                          <a:latin typeface="Calibri"/>
                        </a:rPr>
                        <a:t>Monty Hall niveau 1</a:t>
                      </a:r>
                    </a:p>
                  </a:txBody>
                  <a:tcPr anchor="ctr" marL="109728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2426"/>
                          </a:solidFill>
                          <a:latin typeface="Calibri"/>
                        </a:rPr>
                        <a:t>3 portes, 2 décisions</a:t>
                      </a:r>
                    </a:p>
                  </a:txBody>
                  <a:tcPr anchor="ctr" marL="109728">
                    <a:solidFill>
                      <a:srgbClr val="F5F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2426"/>
                          </a:solidFill>
                          <a:latin typeface="Calibri"/>
                        </a:rPr>
                        <a:t>Monty Hall niveau 2</a:t>
                      </a:r>
                    </a:p>
                  </a:txBody>
                  <a:tcPr anchor="ctr" marL="109728">
                    <a:solidFill>
                      <a:srgbClr val="EAE8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2426"/>
                          </a:solidFill>
                          <a:latin typeface="Calibri"/>
                        </a:rPr>
                        <a:t>5 portes, 4 décisions</a:t>
                      </a:r>
                    </a:p>
                  </a:txBody>
                  <a:tcPr anchor="ctr" marL="109728">
                    <a:solidFill>
                      <a:srgbClr val="EAE8E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2426"/>
                          </a:solidFill>
                          <a:latin typeface="Calibri"/>
                        </a:rPr>
                        <a:t>Rock Paper Scissors (2 rounds)</a:t>
                      </a:r>
                    </a:p>
                  </a:txBody>
                  <a:tcPr anchor="ctr" marL="109728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2426"/>
                          </a:solidFill>
                          <a:latin typeface="Calibri"/>
                        </a:rPr>
                        <a:t>l'adversaire rejoue le coup du round 1</a:t>
                      </a:r>
                    </a:p>
                  </a:txBody>
                  <a:tcPr anchor="ctr" marL="109728">
                    <a:solidFill>
                      <a:srgbClr val="F5F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2426"/>
                          </a:solidFill>
                          <a:latin typeface="Calibri"/>
                        </a:rPr>
                        <a:t>Secret Env 0 à 3</a:t>
                      </a:r>
                    </a:p>
                  </a:txBody>
                  <a:tcPr anchor="ctr" marL="109728">
                    <a:solidFill>
                      <a:srgbClr val="EAE8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2426"/>
                          </a:solidFill>
                          <a:latin typeface="Calibri"/>
                        </a:rPr>
                        <a:t>environnements boîte noire, sans documentation</a:t>
                      </a:r>
                    </a:p>
                  </a:txBody>
                  <a:tcPr anchor="ctr" marL="109728">
                    <a:solidFill>
                      <a:srgbClr val="EAE8E1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6446520"/>
            <a:ext cx="10911535" cy="9525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6B6F72"/>
                </a:solidFill>
                <a:latin typeface="Consolas"/>
              </a:rPr>
              <a:t>BANCS DE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6F72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F5C4E"/>
                </a:solidFill>
                <a:latin typeface="Consolas"/>
              </a:rPr>
              <a:t>EXPÉRIENCE 1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32426"/>
                </a:solidFill>
                <a:latin typeface="Georgia"/>
              </a:rPr>
              <a:t>Dynamic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11535" cy="45262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Policy Iteration et Value Iteration comparés sur Grid World, Monty Hall 2, Rock Paper Scissors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Résultat : même V* et même politique partout, sur les 3 environnements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Sur Grid World, Policy Iteration est environ 16x plus lent que Value Iteration</a:t>
            </a:r>
          </a:p>
          <a:p>
            <a:pPr marL="411480" indent="0">
              <a:spcAft>
                <a:spcPts val="800"/>
              </a:spcAft>
            </a:pPr>
            <a:r>
              <a:t/>
            </a:r>
            <a:r>
              <a:rPr sz="1000" b="0" i="0">
                <a:solidFill>
                  <a:srgbClr val="6B6F72"/>
                </a:solidFill>
                <a:latin typeface="Calibri"/>
              </a:rPr>
              <a:t>–  </a:t>
            </a:r>
            <a:r>
              <a:rPr sz="1550" b="0" i="1">
                <a:solidFill>
                  <a:srgbClr val="6B6F72"/>
                </a:solidFill>
                <a:latin typeface="Calibri"/>
              </a:rPr>
              <a:t>cohérent avec la théorie : Policy Iteration refait une évaluation complète à chaque étape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9525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6B6F72"/>
                </a:solidFill>
                <a:latin typeface="Consolas"/>
              </a:rPr>
              <a:t>EXPÉRIENCE DP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6F72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F5C4E"/>
                </a:solidFill>
                <a:latin typeface="Consolas"/>
              </a:rPr>
              <a:t>EXPÉRIENCE 2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32426"/>
                </a:solidFill>
                <a:latin typeface="Georgia"/>
              </a:rPr>
              <a:t>Monte Carlo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11535" cy="45262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Les 3 variantes (ES, on-policy, off-policy) retrouvent l'optimum exact sur les 3 environnements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Sur Monty Hall 2 : on-policy et off-policy ont besoin d'un epsilon plus élevé pour converger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Monte Carlo ES n'a pas ce problème, grâce aux exploring starts</a:t>
            </a:r>
          </a:p>
          <a:p>
            <a:pPr marL="411480" indent="0">
              <a:spcAft>
                <a:spcPts val="800"/>
              </a:spcAft>
            </a:pPr>
            <a:r>
              <a:t/>
            </a:r>
            <a:r>
              <a:rPr sz="1000" b="0" i="0">
                <a:solidFill>
                  <a:srgbClr val="6B6F72"/>
                </a:solidFill>
                <a:latin typeface="Calibri"/>
              </a:rPr>
              <a:t>–  </a:t>
            </a:r>
            <a:r>
              <a:rPr sz="1550" b="0" i="1">
                <a:solidFill>
                  <a:srgbClr val="6B6F72"/>
                </a:solidFill>
                <a:latin typeface="Calibri"/>
              </a:rPr>
              <a:t>sur Grid World, le taux d'épisodes abandonnés de MC ES varie selon la graine aléatoire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9525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6B6F72"/>
                </a:solidFill>
                <a:latin typeface="Consolas"/>
              </a:rPr>
              <a:t>EXPÉRIENCE MC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6F72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F5C4E"/>
                </a:solidFill>
                <a:latin typeface="Consolas"/>
              </a:rPr>
              <a:t>EXPÉRIENCE 3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32426"/>
                </a:solidFill>
                <a:latin typeface="Georgia"/>
              </a:rPr>
              <a:t>Temporal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11535" cy="45262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Sarsa et Q-Learning convergent tous les deux sur les 3 environnements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Sarsa est on-policy : il évalue la politique epsilon-greedy qu'il suit réellement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Sur Monty Hall 2, baisser epsilon a en fait aggravé la convergence de Sarsa</a:t>
            </a:r>
          </a:p>
          <a:p>
            <a:pPr marL="411480" indent="0">
              <a:spcAft>
                <a:spcPts val="800"/>
              </a:spcAft>
            </a:pPr>
            <a:r>
              <a:t/>
            </a:r>
            <a:r>
              <a:rPr sz="1000" b="0" i="0">
                <a:solidFill>
                  <a:srgbClr val="6B6F72"/>
                </a:solidFill>
                <a:latin typeface="Calibri"/>
              </a:rPr>
              <a:t>–  </a:t>
            </a:r>
            <a:r>
              <a:rPr sz="1550" b="0" i="1">
                <a:solidFill>
                  <a:srgbClr val="6B6F72"/>
                </a:solidFill>
                <a:latin typeface="Calibri"/>
              </a:rPr>
              <a:t>l'exploration insuffisante des branches rares domine le biais théorique attendu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9525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6B6F72"/>
                </a:solidFill>
                <a:latin typeface="Consolas"/>
              </a:rPr>
              <a:t>EXPÉRIENCE 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6F72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F5C4E"/>
                </a:solidFill>
                <a:latin typeface="Consolas"/>
              </a:rPr>
              <a:t>EXPÉRIENCE 4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32426"/>
                </a:solidFill>
                <a:latin typeface="Georgia"/>
              </a:rPr>
              <a:t>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11535" cy="45262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Sur Grid World et Rock Paper Scissors (déterministes) : Dyna-Q converge avec 3x moins d'épisodes réels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Sur Monty Hall 2 : Dyna-Q échoue plus souvent que Sarsa et Q-Learning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Cause : le modèle appris ne retient que la dernière transition observée, pas une moyenne</a:t>
            </a:r>
          </a:p>
          <a:p>
            <a:pPr marL="411480" indent="0">
              <a:spcAft>
                <a:spcPts val="800"/>
              </a:spcAft>
            </a:pPr>
            <a:r>
              <a:t/>
            </a:r>
            <a:r>
              <a:rPr sz="1000" b="0" i="0">
                <a:solidFill>
                  <a:srgbClr val="6B6F72"/>
                </a:solidFill>
                <a:latin typeface="Calibri"/>
              </a:rPr>
              <a:t>–  </a:t>
            </a:r>
            <a:r>
              <a:rPr sz="1550" b="0" i="1">
                <a:solidFill>
                  <a:srgbClr val="6B6F72"/>
                </a:solidFill>
                <a:latin typeface="Calibri"/>
              </a:rPr>
              <a:t>sur récompense stochastique, la planification rejoue un échantillon biaisé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9525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6B6F72"/>
                </a:solidFill>
                <a:latin typeface="Consolas"/>
              </a:rPr>
              <a:t>EXPÉRIENCE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6F72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F5C4E"/>
                </a:solidFill>
                <a:latin typeface="Consolas"/>
              </a:rPr>
              <a:t>EXPÉRIENCE 5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32426"/>
                </a:solidFill>
                <a:latin typeface="Georgia"/>
              </a:rPr>
              <a:t>Impact des hyperparamètres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11535" cy="45262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epsilon : décrochage net si trop bas, plateau au-delà d'un certain seuil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alpha : effet net seulement sur récompense stochastique -- déterministe tolère un taux élevé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gamma : dévalue une récompense lointaine, sans changer la politique si le chemin optimal est unique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n (Dyna-Q) : gain net jusqu'à une dizaine de simulations, puis rendements décroissants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9525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6B6F72"/>
                </a:solidFill>
                <a:latin typeface="Consolas"/>
              </a:rPr>
              <a:t>HYPERPARAMÈTRES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6F72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F5C4E"/>
                </a:solidFill>
                <a:latin typeface="Consolas"/>
              </a:rPr>
              <a:t>ENVIRONNEMENTS BOÎTE NOIRE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32426"/>
                </a:solidFill>
                <a:latin typeface="Georgia"/>
              </a:rPr>
              <a:t>Secret Env 0-3 -- résultats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74519"/>
          <a:ext cx="108813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560320"/>
                <a:gridCol w="3108960"/>
                <a:gridCol w="246888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5F4F0"/>
                          </a:solidFill>
                          <a:latin typeface="Calibri"/>
                        </a:rPr>
                        <a:t>Environnement</a:t>
                      </a:r>
                    </a:p>
                  </a:txBody>
                  <a:tcPr anchor="ctr" marL="109728" marT="36576" marB="36576">
                    <a:solidFill>
                      <a:srgbClr val="2E7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5F4F0"/>
                          </a:solidFill>
                          <a:latin typeface="Calibri"/>
                        </a:rPr>
                        <a:t>États déclarés</a:t>
                      </a:r>
                    </a:p>
                  </a:txBody>
                  <a:tcPr anchor="ctr" marL="109728" marT="36576" marB="36576">
                    <a:solidFill>
                      <a:srgbClr val="2E7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5F4F0"/>
                          </a:solidFill>
                          <a:latin typeface="Calibri"/>
                        </a:rPr>
                        <a:t>Meilleur algo</a:t>
                      </a:r>
                    </a:p>
                  </a:txBody>
                  <a:tcPr anchor="ctr" marL="109728" marT="36576" marB="36576">
                    <a:solidFill>
                      <a:srgbClr val="2E7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5F4F0"/>
                          </a:solidFill>
                          <a:latin typeface="Calibri"/>
                        </a:rPr>
                        <a:t>Score moyen</a:t>
                      </a:r>
                    </a:p>
                  </a:txBody>
                  <a:tcPr anchor="ctr" marL="109728" marT="36576" marB="36576">
                    <a:solidFill>
                      <a:srgbClr val="2E7D6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2426"/>
                          </a:solidFill>
                          <a:latin typeface="Calibri"/>
                        </a:rPr>
                        <a:t>Secret Env 0</a:t>
                      </a:r>
                    </a:p>
                  </a:txBody>
                  <a:tcPr anchor="ctr" marL="109728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2426"/>
                          </a:solidFill>
                          <a:latin typeface="Consolas"/>
                        </a:rPr>
                        <a:t>8 192</a:t>
                      </a:r>
                    </a:p>
                  </a:txBody>
                  <a:tcPr anchor="ctr" marL="109728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2426"/>
                          </a:solidFill>
                          <a:latin typeface="Calibri"/>
                        </a:rPr>
                        <a:t>Sarsa / Dyna-Q</a:t>
                      </a:r>
                    </a:p>
                  </a:txBody>
                  <a:tcPr anchor="ctr" marL="109728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2426"/>
                          </a:solidFill>
                          <a:latin typeface="Consolas"/>
                        </a:rPr>
                        <a:t>+9.00</a:t>
                      </a:r>
                    </a:p>
                  </a:txBody>
                  <a:tcPr anchor="ctr" marL="109728">
                    <a:solidFill>
                      <a:srgbClr val="F5F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2426"/>
                          </a:solidFill>
                          <a:latin typeface="Calibri"/>
                        </a:rPr>
                        <a:t>Secret Env 1</a:t>
                      </a:r>
                    </a:p>
                  </a:txBody>
                  <a:tcPr anchor="ctr" marL="109728">
                    <a:solidFill>
                      <a:srgbClr val="EAE8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2426"/>
                          </a:solidFill>
                          <a:latin typeface="Consolas"/>
                        </a:rPr>
                        <a:t>65 536</a:t>
                      </a:r>
                    </a:p>
                  </a:txBody>
                  <a:tcPr anchor="ctr" marL="109728">
                    <a:solidFill>
                      <a:srgbClr val="EAE8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2426"/>
                          </a:solidFill>
                          <a:latin typeface="Calibri"/>
                        </a:rPr>
                        <a:t>Q-Learning / Dyna-Q</a:t>
                      </a:r>
                    </a:p>
                  </a:txBody>
                  <a:tcPr anchor="ctr" marL="109728">
                    <a:solidFill>
                      <a:srgbClr val="EAE8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2426"/>
                          </a:solidFill>
                          <a:latin typeface="Consolas"/>
                        </a:rPr>
                        <a:t>+22.00</a:t>
                      </a:r>
                    </a:p>
                  </a:txBody>
                  <a:tcPr anchor="ctr" marL="109728">
                    <a:solidFill>
                      <a:srgbClr val="EAE8E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2426"/>
                          </a:solidFill>
                          <a:latin typeface="Calibri"/>
                        </a:rPr>
                        <a:t>Secret Env 2</a:t>
                      </a:r>
                    </a:p>
                  </a:txBody>
                  <a:tcPr anchor="ctr" marL="109728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2426"/>
                          </a:solidFill>
                          <a:latin typeface="Consolas"/>
                        </a:rPr>
                        <a:t>2 097 152</a:t>
                      </a:r>
                    </a:p>
                  </a:txBody>
                  <a:tcPr anchor="ctr" marL="109728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2426"/>
                          </a:solidFill>
                          <a:latin typeface="Calibri"/>
                        </a:rPr>
                        <a:t>Dyna-Q</a:t>
                      </a:r>
                    </a:p>
                  </a:txBody>
                  <a:tcPr anchor="ctr" marL="109728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2426"/>
                          </a:solidFill>
                          <a:latin typeface="Consolas"/>
                        </a:rPr>
                        <a:t>+2.00</a:t>
                      </a:r>
                    </a:p>
                  </a:txBody>
                  <a:tcPr anchor="ctr" marL="109728">
                    <a:solidFill>
                      <a:srgbClr val="F5F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2426"/>
                          </a:solidFill>
                          <a:latin typeface="Calibri"/>
                        </a:rPr>
                        <a:t>Secret Env 3</a:t>
                      </a:r>
                    </a:p>
                  </a:txBody>
                  <a:tcPr anchor="ctr" marL="109728">
                    <a:solidFill>
                      <a:srgbClr val="EAE8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2426"/>
                          </a:solidFill>
                          <a:latin typeface="Consolas"/>
                        </a:rPr>
                        <a:t>65 536</a:t>
                      </a:r>
                    </a:p>
                  </a:txBody>
                  <a:tcPr anchor="ctr" marL="109728">
                    <a:solidFill>
                      <a:srgbClr val="EAE8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2426"/>
                          </a:solidFill>
                          <a:latin typeface="Calibri"/>
                        </a:rPr>
                        <a:t>Sarsa</a:t>
                      </a:r>
                    </a:p>
                  </a:txBody>
                  <a:tcPr anchor="ctr" marL="109728">
                    <a:solidFill>
                      <a:srgbClr val="EAE8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2426"/>
                          </a:solidFill>
                          <a:latin typeface="Consolas"/>
                        </a:rPr>
                        <a:t>+13.29</a:t>
                      </a:r>
                    </a:p>
                  </a:txBody>
                  <a:tcPr anchor="ctr" marL="109728">
                    <a:solidFill>
                      <a:srgbClr val="EAE8E1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6446520"/>
            <a:ext cx="10911535" cy="9525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6B6F72"/>
                </a:solidFill>
                <a:latin typeface="Consolas"/>
              </a:rPr>
              <a:t>SECRET ENVS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6F72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F5C4E"/>
                </a:solidFill>
                <a:latin typeface="Consolas"/>
              </a:rPr>
              <a:t>ENVIRONNEMENTS BOÎTE NOIRE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32426"/>
                </a:solidFill>
                <a:latin typeface="Georgia"/>
              </a:rPr>
              <a:t>Secret Env 0-3 -- méthode et constats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11535" cy="45262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Pas de contrat MDPEnv sur ces environnements : pas de Policy/Value Iteration possible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Comparaison par score moyen sur 200 parties rejouées avec la politique apprise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Dyna-Q et les méthodes TD dominent Monte Carlo sur les 4 environnements</a:t>
            </a:r>
          </a:p>
          <a:p>
            <a:pPr marL="411480" indent="0">
              <a:spcAft>
                <a:spcPts val="800"/>
              </a:spcAft>
            </a:pPr>
            <a:r>
              <a:t/>
            </a:r>
            <a:r>
              <a:rPr sz="1000" b="0" i="0">
                <a:solidFill>
                  <a:srgbClr val="6B6F72"/>
                </a:solidFill>
                <a:latin typeface="Calibri"/>
              </a:rPr>
              <a:t>–  </a:t>
            </a:r>
            <a:r>
              <a:rPr sz="1550" b="0" i="1">
                <a:solidFill>
                  <a:srgbClr val="6B6F72"/>
                </a:solidFill>
                <a:latin typeface="Calibri"/>
              </a:rPr>
              <a:t>Secret Env 2 (2 097 152 états) reste le plus dur -- probablement sous-entraîné plutôt que difficile en soi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9525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6B6F72"/>
                </a:solidFill>
                <a:latin typeface="Consolas"/>
              </a:rPr>
              <a:t>SECRET ENVS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6F72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F5C4E"/>
                </a:solidFill>
                <a:latin typeface="Consolas"/>
              </a:rPr>
              <a:t>BILAN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32426"/>
                </a:solidFill>
                <a:latin typeface="Georgia"/>
              </a:rPr>
              <a:t>Synthèse des pièges trouvés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11535" cy="45262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Exploration insuffisante sur arbre profond : les états rares sont sous-échantillonnés à epsilon faible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Biais on-policy de Sarsa : baisser epsilon peut aggraver la convergence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Dyna-Q et récompense stochastique : le modèle appris biaise l'estimation au lieu de la stabiliser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Dyna-Q et environnement déterministe : 3x moins d'épisodes réels nécessaires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alpha et stochasticité : un taux d'apprentissage élevé n'est un problème qu'avec du bruit à moyenner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9525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6B6F72"/>
                </a:solidFill>
                <a:latin typeface="Consolas"/>
              </a:rPr>
              <a:t>BILAN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6F72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F5C4E"/>
                </a:solidFill>
                <a:latin typeface="Consolas"/>
              </a:rPr>
              <a:t>BILAN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32426"/>
                </a:solidFill>
                <a:latin typeface="Georgia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11535" cy="45262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Les 4 familles d'algorithmes et les 8 environnements sont implémentés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Chaque algorithme model-free est validé contre un optimum exact quand c'est possible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Les secret envs, sans vérité terrain, sont comparés par performance empirique</a:t>
            </a:r>
          </a:p>
          <a:p>
            <a:pPr>
              <a:spcAft>
                <a:spcPts val="1400"/>
              </a:spcAft>
            </a:pPr>
            <a:r>
              <a:t/>
            </a:r>
            <a:r>
              <a:rPr sz="1000" b="1" i="0">
                <a:solidFill>
                  <a:srgbClr val="2E7D6B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232426"/>
                </a:solidFill>
                <a:latin typeface="Calibri"/>
              </a:rPr>
              <a:t>Cinq mécanismes concrets expliquent quand chaque algorithme fonctionne bien ou mal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9525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6B6F72"/>
                </a:solidFill>
                <a:latin typeface="Consolas"/>
              </a:rPr>
              <a:t>BILAN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1052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6F72"/>
                </a:solidFill>
                <a:latin typeface="Consola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